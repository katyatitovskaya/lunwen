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7" r:id="rId2"/>
    <p:sldId id="443" r:id="rId3"/>
    <p:sldId id="444" r:id="rId4"/>
    <p:sldId id="445" r:id="rId5"/>
    <p:sldId id="446" r:id="rId6"/>
    <p:sldId id="448" r:id="rId7"/>
    <p:sldId id="447" r:id="rId8"/>
    <p:sldId id="449" r:id="rId9"/>
    <p:sldId id="450" r:id="rId10"/>
    <p:sldId id="451" r:id="rId11"/>
    <p:sldId id="452" r:id="rId12"/>
    <p:sldId id="453" r:id="rId13"/>
    <p:sldId id="454" r:id="rId14"/>
    <p:sldId id="455" r:id="rId15"/>
    <p:sldId id="456" r:id="rId16"/>
    <p:sldId id="457" r:id="rId17"/>
    <p:sldId id="458" r:id="rId18"/>
    <p:sldId id="459" r:id="rId19"/>
    <p:sldId id="460" r:id="rId20"/>
    <p:sldId id="461" r:id="rId21"/>
    <p:sldId id="462" r:id="rId22"/>
    <p:sldId id="463" r:id="rId23"/>
    <p:sldId id="278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88D"/>
    <a:srgbClr val="B3B2CB"/>
    <a:srgbClr val="6F6CA8"/>
    <a:srgbClr val="C3F0F8"/>
    <a:srgbClr val="72DBEF"/>
    <a:srgbClr val="E2EEC4"/>
    <a:srgbClr val="BCD675"/>
    <a:srgbClr val="D1BED9"/>
    <a:srgbClr val="9366A6"/>
    <a:srgbClr val="7CDD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54"/>
    <p:restoredTop sz="95980" autoAdjust="0"/>
  </p:normalViewPr>
  <p:slideViewPr>
    <p:cSldViewPr snapToGrid="0">
      <p:cViewPr varScale="1">
        <p:scale>
          <a:sx n="81" d="100"/>
          <a:sy n="81" d="100"/>
        </p:scale>
        <p:origin x="-1022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A99640-FDFF-554B-8155-2A4ABB0BB1C0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55478-82A6-BE44-8EFA-5CC00A4527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91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170707D-31DF-4198-B226-3E86B722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962504C-6F4D-40E7-8C48-673B65E27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ED3BBD7-AAB6-4B8E-A07C-AA3217EE8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1478760-7C9F-4EAD-97A8-37EDECB5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2D044B74-2CE6-4717-BE07-A7E8F512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71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FDD19CE-6856-4233-B020-94CF3DF5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F232382-DAD4-41F8-B3C7-B0214FDCB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6EFBC30-F183-4D96-AE00-E67291B5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806AE86-0A51-469D-B06F-E7B2B039B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C0ED490-8851-48B1-BBB0-D43C8DE1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46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D16E289-B09A-4E72-8BB7-380E1F24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D73D96EF-4200-4D6C-8DC7-E3BBAD3BF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4D91F25-F7DD-4CCA-BAF9-92B117DA7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5F784E5-B5E6-4709-BCA9-69FC45F6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9D31165-6A70-4C14-B73E-66E28DED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123D59-3DDA-47F2-B308-AC454A7F3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ACDF3BF-7477-44BC-BA1F-7C7809CA9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0052E31D-F7B9-4F58-9335-937F84C56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F9B6C25-1B17-4794-BCAF-0CCCBEF0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7963F3A-0424-47D1-B9CC-6E9A5B85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9CDD3672-519C-4F83-AA53-11B120AE0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63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455239-15C2-4F47-B887-A7DEB4DA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4F512C7-5BE8-4CE0-ABAA-AB66997EE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12BAB5D7-F5C5-4918-8E5B-F68E6CAC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9A85740-B5B3-4E39-9A69-DF5B54952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C0D9EA6E-3670-4DD9-82E0-960B85C2F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9DF712CC-0B3C-4E68-9087-FB9EB59C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6DE5BC37-E163-4E9D-9E62-6FE9BD663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D2763CB9-D774-4905-9A53-41BCA7412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074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4B46F7A-A610-4C7B-8620-65A1A478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FEC7ED2-4EAB-44BB-9772-CA3BE12C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F1D58D49-5DA8-4081-8D41-AD210AB4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9964FA51-E78A-44E1-98FD-F7B16AC47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34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AC9D2DBF-EBB5-451C-BE92-CC5D166CD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D062A9C1-20D6-4DFB-A8B4-37740B2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81ADE724-FD62-44CB-888F-3D4B20E31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6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FD40A2F-9A2C-4459-BFA2-7AE386515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D7676C02-AC5D-4012-8E79-E56712DE2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CDED3AB-6370-4255-AF69-8345192E9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76B5FE2-EFC8-42CE-AC13-B865DD4A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C634443-4E55-4D68-AD64-DFED74FB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8B25D295-D37F-4D68-A079-DF616C27E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33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9EEE2A2-9783-4276-9375-8CA409414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D77805E7-DD31-4811-8C5B-7276A6465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79A87DF-B413-4841-A25A-8233B9B25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5E9ED02B-7073-4F31-8F59-EC154CC24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2A401AB8-0660-42DF-94A3-E5093FA55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5719A62D-04D5-4145-BF4A-87E62721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2228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36909AE-F391-4BD4-A0AF-9D4B2B374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50A033E7-D627-4EA3-B129-8FC5532C9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38AFE0ED-BC22-4120-8C56-A589FF2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FE62388-EC02-4D58-B8E0-DAE1A678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F628FB0-8A56-4F00-9E17-4855131D9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52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F67B33A9-AB59-45D0-96AD-777DE0609F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AD0F5AFB-5780-4095-82C2-7757D2720A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AD9B20F-BB25-4D88-B2B0-84BFAD70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8829F14-1140-4D93-BB6B-9DF5EBE44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8B2141-047B-4FCF-AA85-F0A59318B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0389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3358F0-159B-504A-B9FD-FC998DAFB9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0" b="1617"/>
          <a:stretch/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7" name="Дата 3">
            <a:extLst>
              <a:ext uri="{FF2B5EF4-FFF2-40B4-BE49-F238E27FC236}">
                <a16:creationId xmlns:a16="http://schemas.microsoft.com/office/drawing/2014/main" xmlns="" id="{7723E2FE-6012-4501-ACDB-3FECEA31D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09454" y="6030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273C401B-1B14-4810-BA37-2D3B4ECEFE53}" type="datetime1">
              <a:rPr lang="ru-RU" smtClean="0"/>
              <a:t>30.12.2025</a:t>
            </a:fld>
            <a:endParaRPr lang="ru-RU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xmlns="" id="{869C74DB-AE1A-437B-ACD9-E27CA6D7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86481"/>
            <a:ext cx="10515600" cy="177196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>
              <a:defRPr sz="6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xmlns="" id="{8E4B5BDC-B674-4D6C-BB4A-C5841B4B4B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6017895"/>
            <a:ext cx="4140200" cy="365125"/>
          </a:xfrm>
          <a:prstGeom prst="rect">
            <a:avLst/>
          </a:prstGeo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514350" marR="0" lvl="0" indent="-5143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dirty="0"/>
              <a:t>вспомогательный текст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FCA9203-8CF5-40F9-9015-089D63E9FA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11225" y="626121"/>
            <a:ext cx="2646405" cy="72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016274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 xmlns="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BB61DFC-9213-474E-A172-AC5FBBD3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58DC243-D4F3-46F2-AA4B-17F436E5B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F57041C-FBA3-4AFB-9F6C-1850A322E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AA36-DFB3-4BD3-B693-E730B8B63A63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BEA50045-E6E3-492E-841D-9D062A7C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C7BDDDA-0332-4C66-9D2A-42AA7296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2586B-6C0A-4699-A295-133075F8516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64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5E7D6B06-FFB5-40E2-86F2-0A120FA3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71971"/>
            <a:ext cx="10515600" cy="1876535"/>
          </a:xfrm>
        </p:spPr>
        <p:txBody>
          <a:bodyPr>
            <a:normAutofit fontScale="90000"/>
          </a:bodyPr>
          <a:lstStyle/>
          <a:p>
            <a:pPr>
              <a:spcAft>
                <a:spcPts val="600"/>
              </a:spcAft>
            </a:pPr>
            <a:r>
              <a:rPr lang="ru-RU" sz="5300" b="1" dirty="0" smtClean="0"/>
              <a:t>Веб-приложение для общения преподавателей с учениками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8591550" y="5628590"/>
            <a:ext cx="3462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 err="1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</a:rPr>
              <a:t>Титовская</a:t>
            </a:r>
            <a:r>
              <a:rPr lang="ru-RU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</a:rPr>
              <a:t> Е. И. гр. 572-2</a:t>
            </a:r>
          </a:p>
          <a:p>
            <a:pPr algn="r"/>
            <a:r>
              <a:rPr lang="ru-RU" dirty="0" smtClean="0">
                <a:solidFill>
                  <a:schemeClr val="bg1"/>
                </a:solidFill>
                <a:latin typeface="Verdana" pitchFamily="34" charset="0"/>
                <a:ea typeface="Verdana" pitchFamily="34" charset="0"/>
              </a:rPr>
              <a:t>Руководитель: Мурзин Е. С</a:t>
            </a:r>
            <a:endParaRPr lang="ru-RU" dirty="0">
              <a:solidFill>
                <a:schemeClr val="bg1"/>
              </a:solidFill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869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Предметная область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4633913"/>
          </a:xfrm>
        </p:spPr>
        <p:txBody>
          <a:bodyPr/>
          <a:lstStyle/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Самообучение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Конспекты в электронном формате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Поиск единомышленников 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Общение с преподавателями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6546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Описание проблемы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657350"/>
            <a:ext cx="10515600" cy="45196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ru-RU" dirty="0" smtClean="0">
                <a:latin typeface="Verdana" pitchFamily="34" charset="0"/>
                <a:ea typeface="Verdana" pitchFamily="34" charset="0"/>
              </a:rPr>
              <a:t>Наличие отвлекающего контента в других соц. сетях</a:t>
            </a:r>
          </a:p>
          <a:p>
            <a:pPr>
              <a:lnSpc>
                <a:spcPct val="150000"/>
              </a:lnSpc>
            </a:pPr>
            <a:r>
              <a:rPr lang="ru-RU" dirty="0">
                <a:latin typeface="Verdana" pitchFamily="34" charset="0"/>
                <a:ea typeface="Verdana" pitchFamily="34" charset="0"/>
              </a:rPr>
              <a:t>Отсутствие общего пространства для </a:t>
            </a:r>
            <a:r>
              <a:rPr lang="ru-RU" dirty="0" smtClean="0">
                <a:latin typeface="Verdana" pitchFamily="34" charset="0"/>
                <a:ea typeface="Verdana" pitchFamily="34" charset="0"/>
              </a:rPr>
              <a:t>обучения и обмена учебными материалами 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pPr marL="0" indent="0">
              <a:buNone/>
            </a:pP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913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Цели и задачи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48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Verdana" pitchFamily="34" charset="0"/>
                <a:ea typeface="Verdana" pitchFamily="34" charset="0"/>
              </a:rPr>
              <a:t>Цель: </a:t>
            </a:r>
            <a:r>
              <a:rPr lang="ru-RU" dirty="0">
                <a:latin typeface="Verdana" pitchFamily="34" charset="0"/>
                <a:ea typeface="Verdana" pitchFamily="34" charset="0"/>
              </a:rPr>
              <a:t>разработка веб-приложения для взаимодействия между преподавателями и </a:t>
            </a:r>
            <a:r>
              <a:rPr lang="ru-RU" dirty="0" smtClean="0">
                <a:latin typeface="Verdana" pitchFamily="34" charset="0"/>
                <a:ea typeface="Verdana" pitchFamily="34" charset="0"/>
              </a:rPr>
              <a:t>учениками</a:t>
            </a:r>
          </a:p>
          <a:p>
            <a:pPr marL="0" indent="0">
              <a:buNone/>
            </a:pPr>
            <a:r>
              <a:rPr lang="ru-RU" dirty="0" smtClean="0">
                <a:latin typeface="Verdana" pitchFamily="34" charset="0"/>
                <a:ea typeface="Verdana" pitchFamily="34" charset="0"/>
              </a:rPr>
              <a:t>Задачи:</a:t>
            </a: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Провести анализ предметной области.</a:t>
            </a: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Провести сравнительный анализ аналогов.</a:t>
            </a: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Разработать структуру базы данных.</a:t>
            </a: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Спроектировать архитектуру веб-приложения.</a:t>
            </a:r>
          </a:p>
          <a:p>
            <a:pPr lvl="0"/>
            <a:r>
              <a:rPr lang="ru-RU" dirty="0">
                <a:latin typeface="Verdana" pitchFamily="34" charset="0"/>
                <a:ea typeface="Verdana" pitchFamily="34" charset="0"/>
              </a:rPr>
              <a:t>Реализовать </a:t>
            </a:r>
            <a:r>
              <a:rPr lang="ru-RU" dirty="0" err="1">
                <a:latin typeface="Verdana" pitchFamily="34" charset="0"/>
                <a:ea typeface="Verdana" pitchFamily="34" charset="0"/>
              </a:rPr>
              <a:t>программно</a:t>
            </a:r>
            <a:r>
              <a:rPr lang="ru-RU" dirty="0">
                <a:latin typeface="Verdana" pitchFamily="34" charset="0"/>
                <a:ea typeface="Verdana" pitchFamily="34" charset="0"/>
              </a:rPr>
              <a:t> и проверить работоспособность.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954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Выбор средств реализации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Verdana" pitchFamily="34" charset="0"/>
                <a:ea typeface="Verdana" pitchFamily="34" charset="0"/>
              </a:rPr>
              <a:t>Visual Studio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</a:rPr>
              <a:t>ASP.NET Core MVC</a:t>
            </a:r>
            <a:endParaRPr lang="ru-RU" dirty="0">
              <a:latin typeface="Verdana" pitchFamily="34" charset="0"/>
              <a:ea typeface="Verdana" pitchFamily="34" charset="0"/>
            </a:endParaRPr>
          </a:p>
          <a:p>
            <a:r>
              <a:rPr lang="en-US" dirty="0" smtClean="0">
                <a:latin typeface="Verdana" pitchFamily="34" charset="0"/>
                <a:ea typeface="Verdana" pitchFamily="34" charset="0"/>
              </a:rPr>
              <a:t>Entity</a:t>
            </a:r>
            <a:r>
              <a:rPr lang="ru-RU" smtClean="0">
                <a:latin typeface="Verdana" pitchFamily="34" charset="0"/>
                <a:ea typeface="Verdana" pitchFamily="34" charset="0"/>
              </a:rPr>
              <a:t> </a:t>
            </a:r>
            <a:r>
              <a:rPr lang="en-US" smtClean="0">
                <a:latin typeface="Verdana" pitchFamily="34" charset="0"/>
                <a:ea typeface="Verdana" pitchFamily="34" charset="0"/>
              </a:rPr>
              <a:t>Framework </a:t>
            </a:r>
            <a:r>
              <a:rPr lang="en-US" dirty="0" smtClean="0">
                <a:latin typeface="Verdana" pitchFamily="34" charset="0"/>
                <a:ea typeface="Verdana" pitchFamily="34" charset="0"/>
              </a:rPr>
              <a:t>Core</a:t>
            </a:r>
            <a:endParaRPr lang="ru-RU" dirty="0" smtClean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0325"/>
            <a:ext cx="10515600" cy="1325563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Функциональные требования</a:t>
            </a:r>
            <a:endParaRPr lang="ru-RU" sz="32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527" y="998300"/>
            <a:ext cx="8292947" cy="5413850"/>
          </a:xfr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228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Проектирование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5807" y="1609725"/>
            <a:ext cx="8920386" cy="4567238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790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Проектирование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8" name="Объект 7"/>
          <p:cNvPicPr>
            <a:picLocks noGrp="1"/>
          </p:cNvPicPr>
          <p:nvPr>
            <p:ph idx="1"/>
          </p:nvPr>
        </p:nvPicPr>
        <p:blipFill rotWithShape="1">
          <a:blip r:embed="rId2"/>
          <a:srcRect t="3387"/>
          <a:stretch/>
        </p:blipFill>
        <p:spPr>
          <a:xfrm>
            <a:off x="943519" y="1409700"/>
            <a:ext cx="10304962" cy="489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74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1886512" y="1655933"/>
            <a:ext cx="8418976" cy="45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0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" name="Рисунок 9"/>
          <p:cNvPicPr/>
          <p:nvPr/>
        </p:nvPicPr>
        <p:blipFill rotWithShape="1">
          <a:blip r:embed="rId2"/>
          <a:srcRect l="33786" t="15291" r="20623" b="7181"/>
          <a:stretch/>
        </p:blipFill>
        <p:spPr bwMode="auto">
          <a:xfrm>
            <a:off x="1142999" y="1952625"/>
            <a:ext cx="4447599" cy="4057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Объект 10"/>
          <p:cNvPicPr>
            <a:picLocks noGrp="1"/>
          </p:cNvPicPr>
          <p:nvPr>
            <p:ph idx="1"/>
          </p:nvPr>
        </p:nvPicPr>
        <p:blipFill rotWithShape="1">
          <a:blip r:embed="rId3"/>
          <a:srcRect l="40807" t="15130" r="26661" b="29813"/>
          <a:stretch/>
        </p:blipFill>
        <p:spPr bwMode="auto">
          <a:xfrm>
            <a:off x="6007548" y="1952625"/>
            <a:ext cx="4469270" cy="4057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0528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Рисунок 11"/>
          <p:cNvPicPr/>
          <p:nvPr/>
        </p:nvPicPr>
        <p:blipFill>
          <a:blip r:embed="rId2"/>
          <a:stretch>
            <a:fillRect/>
          </a:stretch>
        </p:blipFill>
        <p:spPr>
          <a:xfrm>
            <a:off x="1858250" y="1687672"/>
            <a:ext cx="8475501" cy="45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3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Объект 8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2243" y="1500980"/>
            <a:ext cx="8707515" cy="467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2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13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881808" y="1644526"/>
            <a:ext cx="8428385" cy="45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26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14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886512" y="1646408"/>
            <a:ext cx="8418976" cy="451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5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15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877760" y="1646408"/>
            <a:ext cx="8436481" cy="452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35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16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877760" y="1646408"/>
            <a:ext cx="8436481" cy="452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8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17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882337" y="1698943"/>
            <a:ext cx="8427327" cy="4520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55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18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881807" y="1702434"/>
            <a:ext cx="8428387" cy="452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3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19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1886638" y="1655933"/>
            <a:ext cx="8418725" cy="451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47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Пользовательский интерфейс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20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>
            <a:fillRect/>
          </a:stretch>
        </p:blipFill>
        <p:spPr>
          <a:xfrm>
            <a:off x="1881807" y="1664334"/>
            <a:ext cx="8428387" cy="452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0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Заключение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55423"/>
            <a:ext cx="10515600" cy="4621540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Verdana" pitchFamily="34" charset="0"/>
                <a:ea typeface="Verdana" pitchFamily="34" charset="0"/>
              </a:rPr>
              <a:t>Реализовано: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База данных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Лента постов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Создание, удаление и редактирование постов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Комментарии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Лайки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Создание, удаление и редактирование тетрадей</a:t>
            </a:r>
            <a:endParaRPr lang="ru-RU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21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17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b="1" dirty="0" smtClean="0">
                <a:solidFill>
                  <a:srgbClr val="3C388D"/>
                </a:solidFill>
                <a:latin typeface="Verdana" pitchFamily="34" charset="0"/>
                <a:ea typeface="Verdana" pitchFamily="34" charset="0"/>
              </a:rPr>
              <a:t>Дальнейшее развитие</a:t>
            </a:r>
            <a:endParaRPr lang="ru-RU" sz="3600" b="1" dirty="0">
              <a:solidFill>
                <a:srgbClr val="3C388D"/>
              </a:solidFill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Закладки</a:t>
            </a:r>
          </a:p>
          <a:p>
            <a:r>
              <a:rPr lang="ru-RU" dirty="0" smtClean="0">
                <a:latin typeface="Verdana" pitchFamily="34" charset="0"/>
                <a:ea typeface="Verdana" pitchFamily="34" charset="0"/>
              </a:rPr>
              <a:t>Режим рисования в тетрадях</a:t>
            </a:r>
          </a:p>
          <a:p>
            <a:r>
              <a:rPr lang="ru-RU" dirty="0" err="1" smtClean="0">
                <a:latin typeface="Verdana" pitchFamily="34" charset="0"/>
                <a:ea typeface="Verdana" pitchFamily="34" charset="0"/>
              </a:rPr>
              <a:t>Мессенджер</a:t>
            </a:r>
            <a:endParaRPr lang="ru-RU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D3094F3-12CA-4793-A6DE-0C96D51DE8F0}"/>
              </a:ext>
            </a:extLst>
          </p:cNvPr>
          <p:cNvSpPr/>
          <p:nvPr/>
        </p:nvSpPr>
        <p:spPr>
          <a:xfrm>
            <a:off x="10476818" y="6357234"/>
            <a:ext cx="1715181" cy="500766"/>
          </a:xfrm>
          <a:prstGeom prst="rect">
            <a:avLst/>
          </a:prstGeom>
          <a:solidFill>
            <a:srgbClr val="3C38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EEEB542-48B2-4067-9E30-61EEBCF8EABA}"/>
              </a:ext>
            </a:extLst>
          </p:cNvPr>
          <p:cNvSpPr txBox="1">
            <a:spLocks/>
          </p:cNvSpPr>
          <p:nvPr/>
        </p:nvSpPr>
        <p:spPr>
          <a:xfrm>
            <a:off x="9039225" y="64250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3BD0280-3925-48FA-8745-52DE0C7BF3BF}" type="slidenum">
              <a:rPr lang="ru-RU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pPr/>
              <a:t>22</a:t>
            </a:fld>
            <a:endParaRPr lang="ru-RU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3706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38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F7474090-B206-43C0-969E-36A803F3A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07039" y="679681"/>
            <a:ext cx="2338312" cy="661341"/>
          </a:xfrm>
          <a:prstGeom prst="rect">
            <a:avLst/>
          </a:prstGeom>
        </p:spPr>
      </p:pic>
      <p:sp>
        <p:nvSpPr>
          <p:cNvPr id="4" name="object 21">
            <a:extLst>
              <a:ext uri="{FF2B5EF4-FFF2-40B4-BE49-F238E27FC236}">
                <a16:creationId xmlns:a16="http://schemas.microsoft.com/office/drawing/2014/main" xmlns="" id="{A3A4DCCF-4674-41A6-9649-5AEFCE619344}"/>
              </a:ext>
            </a:extLst>
          </p:cNvPr>
          <p:cNvSpPr txBox="1">
            <a:spLocks/>
          </p:cNvSpPr>
          <p:nvPr/>
        </p:nvSpPr>
        <p:spPr>
          <a:xfrm>
            <a:off x="707038" y="2805752"/>
            <a:ext cx="6870555" cy="1246495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СПАСИБО </a:t>
            </a:r>
            <a:b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</a:br>
            <a:r>
              <a:rPr lang="ru-RU" sz="4000" dirty="0">
                <a:solidFill>
                  <a:srgbClr val="FFFFFF"/>
                </a:solidFill>
                <a:latin typeface="Nekst Bold" panose="00000800000000000000" pitchFamily="2" charset="-52"/>
              </a:rPr>
              <a:t>ЗА ВНИМАНИЕ!</a:t>
            </a:r>
            <a:endParaRPr lang="ru-RU" sz="4000" dirty="0">
              <a:latin typeface="Nekst Bold" panose="000008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55072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771</TotalTime>
  <Words>181</Words>
  <Application>Microsoft Office PowerPoint</Application>
  <PresentationFormat>Произвольный</PresentationFormat>
  <Paragraphs>73</Paragraphs>
  <Slides>23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Тема Office</vt:lpstr>
      <vt:lpstr>Веб-приложение для общения преподавателей с учениками </vt:lpstr>
      <vt:lpstr>Предметная область</vt:lpstr>
      <vt:lpstr>Описание проблемы</vt:lpstr>
      <vt:lpstr>Цели и задачи</vt:lpstr>
      <vt:lpstr>Выбор средств реализации</vt:lpstr>
      <vt:lpstr>Функциональные требования</vt:lpstr>
      <vt:lpstr>Проектирование</vt:lpstr>
      <vt:lpstr>Проектирование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Пользовательский интерфейс</vt:lpstr>
      <vt:lpstr>Заключение</vt:lpstr>
      <vt:lpstr>Дальнейшее развитие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образования: итоги 2021</dc:title>
  <dc:creator>User</dc:creator>
  <cp:lastModifiedBy>user</cp:lastModifiedBy>
  <cp:revision>60</cp:revision>
  <dcterms:created xsi:type="dcterms:W3CDTF">2022-06-29T03:22:44Z</dcterms:created>
  <dcterms:modified xsi:type="dcterms:W3CDTF">2025-12-30T13:37:13Z</dcterms:modified>
</cp:coreProperties>
</file>